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pic>
        <p:nvPicPr>
          <p:cNvPr id="3" name="Image 0" descr="/mnt/data/a_dark_high_contrast_sci_fi_fantasy_digital_scene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111111">
              <a:alpha val="95000"/>
            </a:srgbClr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91072" y="132588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Ağaçlarının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Sistemlerdeki Rolü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291072" y="2770632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8890">
            <a:solidFill>
              <a:srgbClr val="C8FF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2843784"/>
            <a:ext cx="412394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Soyad : Yavuz Eymen Tan</a:t>
            </a:r>
            <a:endParaRPr lang="en-US" sz="920" dirty="0"/>
          </a:p>
        </p:txBody>
      </p:sp>
      <p:sp>
        <p:nvSpPr>
          <p:cNvPr id="9" name="Shape 6"/>
          <p:cNvSpPr/>
          <p:nvPr/>
        </p:nvSpPr>
        <p:spPr>
          <a:xfrm>
            <a:off x="6291072" y="3191256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8890">
            <a:solidFill>
              <a:srgbClr val="C8FF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3264408"/>
            <a:ext cx="412394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Öğrenci No : 02240224144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6291072" y="3611880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8890">
            <a:solidFill>
              <a:srgbClr val="C8FF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685032"/>
            <a:ext cx="412394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: Veri Organizasyonu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291072" y="4032504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8890">
            <a:solidFill>
              <a:srgbClr val="C8FF1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4105656"/>
            <a:ext cx="412394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Kurum : İnönü Üniversitesi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6291072" y="4453128"/>
            <a:ext cx="4526280" cy="292608"/>
          </a:xfrm>
          <a:prstGeom prst="roundRect">
            <a:avLst>
              <a:gd name="adj" fmla="val 25000"/>
            </a:avLst>
          </a:prstGeom>
          <a:solidFill>
            <a:srgbClr val="171717"/>
          </a:solidFill>
          <a:ln w="8890">
            <a:solidFill>
              <a:srgbClr val="C8FF1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4526280"/>
            <a:ext cx="4123944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Tarih : 19.05.2026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6291072" y="5212080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B-TREE  •  B+ TREE  •  INDEX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Akışı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Ödev konusunu örnek sunumdaki gibi kısa başlıklar ve görsel akışla anlatan yapı.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444752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71600" y="14173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03320" y="14447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ağaçlarının temel farkı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371600" y="1837944"/>
            <a:ext cx="6858000" cy="0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86000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Çalışma Mantığı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03320" y="22860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Arama, dengeleme ve yaprak zinciri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71600" y="2679192"/>
            <a:ext cx="6858000" cy="0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127248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371600" y="3099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Kullanım Alanları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03320" y="31272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tabanları, dosya sistemleri, arama motorları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371600" y="3520440"/>
            <a:ext cx="6858000" cy="0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968496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71600" y="3941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Benzetme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39684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Kütüphane ve hastane arşivi örneği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71600" y="4361688"/>
            <a:ext cx="6858000" cy="0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809744"/>
            <a:ext cx="530352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371600" y="4782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Yorum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03320" y="48097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çağında önem ve gelecek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71600" y="5202936"/>
            <a:ext cx="6858000" cy="0"/>
          </a:xfrm>
          <a:prstGeom prst="line">
            <a:avLst/>
          </a:prstGeom>
          <a:noFill/>
          <a:ln w="11430">
            <a:solidFill>
              <a:srgbClr val="303030"/>
            </a:solidFill>
            <a:prstDash val="solid"/>
          </a:ln>
        </p:spPr>
      </p:sp>
      <p:pic>
        <p:nvPicPr>
          <p:cNvPr id="26" name="Image 0" descr="/mnt/data/a_high_tech_sci_fi_digital_tech_illustration_over_batch_5.png">    </p:cNvPr>
          <p:cNvPicPr>
            <a:picLocks noChangeAspect="1"/>
          </p:cNvPicPr>
          <p:nvPr/>
        </p:nvPicPr>
        <p:blipFill>
          <a:blip r:embed="rId1"/>
          <a:srcRect l="30332" r="30332" t="0" b="0"/>
          <a:stretch/>
        </p:blipFill>
        <p:spPr>
          <a:xfrm>
            <a:off x="8366760" y="1417320"/>
            <a:ext cx="2971800" cy="425196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366760" y="1417320"/>
            <a:ext cx="2971800" cy="4251960"/>
          </a:xfrm>
          <a:prstGeom prst="rect">
            <a:avLst/>
          </a:prstGeom>
          <a:solidFill>
            <a:srgbClr val="000000">
              <a:alpha val="8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ve B+ Ağaçları Nedir?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yapı da çok yollu, dengeli ve sıralı arama ağacı mantığına dayanır.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D7FF31"/>
          </a:solidFill>
          <a:ln w="8890">
            <a:solidFill>
              <a:srgbClr val="D7FF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49047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B-Ağacı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1947672"/>
            <a:ext cx="4855464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kendini dengeleyen çok yollu arama ağacıdır. Bir düğümde birden fazla anahtar bulunabilir. Veriler hem iç düğümlerde hem de yapraklarda yer alabilir.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90472"/>
            <a:ext cx="4855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Ağacı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56248" y="1947672"/>
            <a:ext cx="4855464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ağacının geliştirilmiş biçimidir. İç düğümler yalnızca yönlendirme/indeks anahtarlarını taşır. Gerçek veriler yaprak düğümlerdedir ve yapraklar birbirine bağlıdır.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2057400" y="3977640"/>
            <a:ext cx="-731520" cy="64008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057400" y="3977640"/>
            <a:ext cx="731520" cy="64008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788920" y="4892040"/>
            <a:ext cx="-502920" cy="59436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2788920" y="4892040"/>
            <a:ext cx="502920" cy="59436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627632" y="3685032"/>
            <a:ext cx="868680" cy="438912"/>
          </a:xfrm>
          <a:prstGeom prst="roundRect">
            <a:avLst>
              <a:gd name="adj" fmla="val 10417"/>
            </a:avLst>
          </a:prstGeom>
          <a:solidFill>
            <a:srgbClr val="C8FF17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572000"/>
            <a:ext cx="713232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50592" y="4572000"/>
            <a:ext cx="713232" cy="393192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93392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35808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5943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B9BEC4"/>
                </a:solidFill>
              </a:rPr>
              <a:t>B-Ağacı: veri üst seviyede de bulunabilir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8823960" y="3977640"/>
            <a:ext cx="-960120" cy="64008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823960" y="3977640"/>
            <a:ext cx="960120" cy="64008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7863840" y="4892040"/>
            <a:ext cx="-960120" cy="54864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7863840" y="4892040"/>
            <a:ext cx="45720" cy="54864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784080" y="4892040"/>
            <a:ext cx="-594360" cy="54864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784080" y="4892040"/>
            <a:ext cx="411480" cy="548640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8394192" y="368503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C8FF17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| 50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4572000"/>
            <a:ext cx="731520" cy="393192"/>
          </a:xfrm>
          <a:prstGeom prst="roundRect">
            <a:avLst>
              <a:gd name="adj" fmla="val 11628"/>
            </a:avLst>
          </a:prstGeom>
          <a:solidFill>
            <a:srgbClr val="303030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18320" y="4572000"/>
            <a:ext cx="731520" cy="393192"/>
          </a:xfrm>
          <a:prstGeom prst="roundRect">
            <a:avLst>
              <a:gd name="adj" fmla="val 11628"/>
            </a:avLst>
          </a:prstGeom>
          <a:solidFill>
            <a:srgbClr val="303030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20840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99832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878824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957816" y="5413248"/>
            <a:ext cx="65836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5596128"/>
            <a:ext cx="429768" cy="0"/>
          </a:xfrm>
          <a:prstGeom prst="line">
            <a:avLst/>
          </a:prstGeom>
          <a:noFill/>
          <a:ln w="2032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449056" y="5596128"/>
            <a:ext cx="420624" cy="0"/>
          </a:xfrm>
          <a:prstGeom prst="line">
            <a:avLst/>
          </a:prstGeom>
          <a:noFill/>
          <a:ln w="2032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528048" y="5596128"/>
            <a:ext cx="420624" cy="0"/>
          </a:xfrm>
          <a:prstGeom prst="line">
            <a:avLst/>
          </a:prstGeom>
          <a:noFill/>
          <a:ln w="2032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583680" y="5943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dirty="0">
                <a:solidFill>
                  <a:srgbClr val="B9BEC4"/>
                </a:solidFill>
              </a:rPr>
              <a:t>B+ Ağacı: veri yapraklarda ve yapraklar zincirli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B-Ağacının Çalışma Mantığı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Geniş düğümler sayesinde ağaç kısa kalır; bütün yapraklar aynı seviyede tutulur.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06440" y="1828800"/>
            <a:ext cx="-3611880" cy="987552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806440" y="1828800"/>
            <a:ext cx="0" cy="987552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806440" y="1828800"/>
            <a:ext cx="3611880" cy="987552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983480" y="1508760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C8FF17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| 60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761488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| 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761488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| 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49640" y="27614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| 80 | 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7452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8892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2628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3212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53796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18388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4400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005840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927080" y="3977640"/>
            <a:ext cx="530352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194560" y="3218688"/>
            <a:ext cx="-109728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2194560" y="3218688"/>
            <a:ext cx="-4572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2194560" y="3218688"/>
            <a:ext cx="77724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806440" y="3218688"/>
            <a:ext cx="-1014984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806440" y="3218688"/>
            <a:ext cx="-9144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806440" y="3218688"/>
            <a:ext cx="987552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418320" y="3218688"/>
            <a:ext cx="-96012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418320" y="3218688"/>
            <a:ext cx="-18288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418320" y="3218688"/>
            <a:ext cx="86868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418320" y="3218688"/>
            <a:ext cx="1645920" cy="758952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85800" y="49560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512064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yükseklik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" y="5632704"/>
            <a:ext cx="277977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Daha az seviye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Daha az disk erişimi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49560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512064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Sürekli dengeli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90872" y="5632704"/>
            <a:ext cx="277977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Tüm yapraklar aynı seviyede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Ekleme sonrası bölme yapılır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83880" y="495604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512064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Hızlı arama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39912" y="5632704"/>
            <a:ext cx="277977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Arama, ekleme ve silme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Genel karmaşıklık O(log n)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19963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notu: B ağaçları dengeli, çok yollu ve disk erişimini azaltan yapılardır.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Ağacının Çalışma Mantığı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ağacında iç düğümler yönlendirir; gerçek kayıtlar yaprak seviyesinde tutulur.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74920" y="1417320"/>
            <a:ext cx="1463040" cy="530352"/>
          </a:xfrm>
          <a:prstGeom prst="roundRect">
            <a:avLst>
              <a:gd name="adj" fmla="val 8621"/>
            </a:avLst>
          </a:prstGeom>
          <a:solidFill>
            <a:srgbClr val="C8FF17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| 50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06440" y="1938528"/>
            <a:ext cx="-2423160" cy="850392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5806440" y="1938528"/>
            <a:ext cx="2377440" cy="850392"/>
          </a:xfrm>
          <a:prstGeom prst="line">
            <a:avLst/>
          </a:prstGeom>
          <a:noFill/>
          <a:ln w="16510">
            <a:solidFill>
              <a:srgbClr val="C8FF17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697480" y="2743200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303030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| 25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743200"/>
            <a:ext cx="1371600" cy="420624"/>
          </a:xfrm>
          <a:prstGeom prst="roundRect">
            <a:avLst>
              <a:gd name="adj" fmla="val 10870"/>
            </a:avLst>
          </a:prstGeom>
          <a:solidFill>
            <a:srgbClr val="303030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| 75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1  10  20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42032" y="4187952"/>
            <a:ext cx="841248" cy="0"/>
          </a:xfrm>
          <a:prstGeom prst="line">
            <a:avLst/>
          </a:prstGeom>
          <a:noFill/>
          <a:ln w="2159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29000" y="397764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25  30  40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73752" y="4187952"/>
            <a:ext cx="841248" cy="0"/>
          </a:xfrm>
          <a:prstGeom prst="line">
            <a:avLst/>
          </a:prstGeom>
          <a:noFill/>
          <a:ln w="2159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760720" y="397764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45  50  55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05472" y="4187952"/>
            <a:ext cx="841248" cy="0"/>
          </a:xfrm>
          <a:prstGeom prst="line">
            <a:avLst/>
          </a:prstGeom>
          <a:noFill/>
          <a:ln w="2159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092440" y="397764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60  70  75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37192" y="4187952"/>
            <a:ext cx="841248" cy="0"/>
          </a:xfrm>
          <a:prstGeom prst="line">
            <a:avLst/>
          </a:prstGeom>
          <a:noFill/>
          <a:ln w="2159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424160" y="3977640"/>
            <a:ext cx="14173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80  90  99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3163824"/>
            <a:ext cx="-1600200" cy="813816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383280" y="3163824"/>
            <a:ext cx="731520" cy="813816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8183880" y="3163824"/>
            <a:ext cx="-1737360" cy="813816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183880" y="3163824"/>
            <a:ext cx="612648" cy="813816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183880" y="3163824"/>
            <a:ext cx="2788920" cy="813816"/>
          </a:xfrm>
          <a:prstGeom prst="line">
            <a:avLst/>
          </a:prstGeom>
          <a:noFill/>
          <a:ln w="11430">
            <a:solidFill>
              <a:srgbClr val="484848"/>
            </a:solidFill>
            <a:prstDash val="solid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85800" y="49834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14807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İç düğümler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832" y="5660136"/>
            <a:ext cx="282549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Sadece indeks/yönlendirme tutar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25696" y="49834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514807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Yapraklar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1728" y="5660136"/>
            <a:ext cx="282549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Gerçek kayıt veya kayıt adresi burada bulunur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498348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5148072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Bağlantı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39912" y="5660136"/>
            <a:ext cx="2825496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Yaprak zinciri aralık sorgusunu hızlandırır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199632"/>
            <a:ext cx="10332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 notu: B+ ağacında kayıtlar yalnızca yaprak düğümlerde saklanır ve yapraklar bağlantılı liste gibi birbirine bağlanır.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B-Ağacı ve B+ Ağacı Karşılaştırması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aileden gelseler de veri saklama ve aralık tarama davranışları farklıdır.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109960" cy="694944"/>
          </a:xfrm>
          <a:prstGeom prst="rect">
            <a:avLst/>
          </a:prstGeom>
          <a:solidFill>
            <a:srgbClr val="C8FF17"/>
          </a:solidFill>
          <a:ln w="6350">
            <a:solidFill>
              <a:srgbClr val="C8FF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4813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2907792" y="1481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B-Ağacı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7342632" y="14813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Ağacı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48640" y="2020824"/>
            <a:ext cx="11109960" cy="694944"/>
          </a:xfrm>
          <a:prstGeom prst="rect">
            <a:avLst/>
          </a:prstGeom>
          <a:solidFill>
            <a:srgbClr val="222222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176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Verinin konumu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907792" y="2176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 düğümde veya yaprakta olabilir.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7342632" y="2176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veri yaprak düğümlerdedir.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11109960" cy="694944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8712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sonucu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907792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Bazı aramalar üst seviyede bitebilir.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7342632" y="28712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çoğunlukla yaprağa kadar iner.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48640" y="3410712"/>
            <a:ext cx="11109960" cy="694944"/>
          </a:xfrm>
          <a:prstGeom prst="rect">
            <a:avLst/>
          </a:prstGeom>
          <a:solidFill>
            <a:srgbClr val="222222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5661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Aralık sorgusu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2907792" y="3566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Sıralı tarama daha maliyetli olabilir.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7342632" y="35661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Yaprak zinciri sayesinde hızlıdır.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548640" y="4105656"/>
            <a:ext cx="11109960" cy="694944"/>
          </a:xfrm>
          <a:prstGeom prst="rect">
            <a:avLst/>
          </a:prstGeom>
          <a:solidFill>
            <a:srgbClr val="1E1E1E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2611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kullanımı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2907792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amaçlı indekslemeye uygundur.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342632" y="42611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tabanlarında çok yaygındır.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109960" cy="694944"/>
          </a:xfrm>
          <a:prstGeom prst="rect">
            <a:avLst/>
          </a:prstGeom>
          <a:solidFill>
            <a:srgbClr val="222222"/>
          </a:solidFill>
          <a:ln w="635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956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Benzetme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2907792" y="4956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katta tabela ve dosya bulunur.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342632" y="4956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Üst katlar tabela, alt kat gerçek dosyadır.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Sistemlerde Neden Tercih Edilir?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sistemlerde amaç, çok büyük veriye hızlı ve güvenilir şekilde erişmektir.</a:t>
            </a:r>
            <a:endParaRPr lang="en-US" sz="1150" dirty="0"/>
          </a:p>
        </p:txBody>
      </p:sp>
      <p:pic>
        <p:nvPicPr>
          <p:cNvPr id="6" name="Image 0" descr="/mnt/data/a_wide_cinematic_view_down_a_modern_data_center_batch_2.png">    </p:cNvPr>
          <p:cNvPicPr>
            <a:picLocks noChangeAspect="1"/>
          </p:cNvPicPr>
          <p:nvPr/>
        </p:nvPicPr>
        <p:blipFill>
          <a:blip r:embed="rId1"/>
          <a:srcRect l="13202" r="13202" t="0" b="0"/>
          <a:stretch/>
        </p:blipFill>
        <p:spPr>
          <a:xfrm>
            <a:off x="594360" y="1463040"/>
            <a:ext cx="466344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63040"/>
            <a:ext cx="4663440" cy="356616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0" y="135331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6168" y="1517904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I/O Optimizasyonu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71032" y="2029968"/>
            <a:ext cx="4837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 disk okumasıyla çok sayıda indeks anahtarı işlenebilir.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5715000" y="263347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2798064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Logaritmik Zaman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71032" y="3310128"/>
            <a:ext cx="4837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Kayıt sayısı büyüdüğünde arama maliyeti kontrollü artar.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5715000" y="391363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16168" y="4078224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Önbellek ve Denge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71032" y="4590288"/>
            <a:ext cx="4837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Üst düğümler bellekte tutulur, dengeli yapı yolu kısaltır.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4709160" y="5532120"/>
            <a:ext cx="571500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hızlıdır; disk erişimi pahalıdır. B+ Tree bu farkı azaltır.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Tabanlarında Kullanımı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İndeks, tablonun tamamını taramadan hedef kayda ulaşmayı sağlayan hızlı erişim yoludur.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InnoDB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093976"/>
            <a:ext cx="29626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İndeksler B-tree yapısındadır.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Birincil anahtar clustered index mantığıyla veriyi düzenler.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Amaç daha az disk erişimiyle satıra ulaşmaktır.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81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093976"/>
            <a:ext cx="29626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Varsayılan ve en yaygın indeks türü B-tree’dir.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Eşitlik ve aralık sorgularında kullanılır.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Sıralama işlemlerini destekler.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001000" y="141732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168" y="158191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57032" y="2093976"/>
            <a:ext cx="2962656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Belge tabanlı olsa da indeksler sıralı anahtar mantığıyla çalışır.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B-tree indeks yapısı hızlı sorgulama sağlar.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Eşitlik ve aralık sorgularında faydalıdır.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Örnek: SELECT * FROM urunler WHERE fiyat BETWEEN 50 AND 200 ORDER BY fiyat;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5532120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Fiyat alanında B+ Tree indeks varsa veri tabanı ilk uygun yaprağa iner, sonra yaprak zinciri boyunca okur.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Somut Veri Tabanı Örneği: Ürün Arama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stok veritabanında barkod, kategori, fiyat ve stok alanları üzerinden hızlı arama yapılır.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039112"/>
            <a:ext cx="25237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urunler(id, barkod, kategori, fiyat, stok)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58191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İndeks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2039112"/>
            <a:ext cx="25237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INDEX idx_fiyat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urunler(fiyat);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49640" y="1417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0808" y="158191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Sorgu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50808" y="2039112"/>
            <a:ext cx="2523744" cy="1554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– 200 TL arası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ürünleri listele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1901952"/>
            <a:ext cx="822960" cy="0"/>
          </a:xfrm>
          <a:prstGeom prst="line">
            <a:avLst/>
          </a:prstGeom>
          <a:noFill/>
          <a:ln w="2540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43800" y="1901952"/>
            <a:ext cx="822960" cy="0"/>
          </a:xfrm>
          <a:prstGeom prst="line">
            <a:avLst/>
          </a:prstGeom>
          <a:noFill/>
          <a:ln w="25400">
            <a:solidFill>
              <a:srgbClr val="C8FF17"/>
            </a:solidFill>
            <a:prstDash val="solid"/>
            <a:tailEnd type="triangle"/>
          </a:ln>
        </p:spPr>
      </p:sp>
      <p:pic>
        <p:nvPicPr>
          <p:cNvPr id="17" name="Image 0" descr="/mnt/data/a_high_tech_abstract_data_visualization_scene_on_a_batch_4.png">    </p:cNvPr>
          <p:cNvPicPr>
            <a:picLocks noChangeAspect="1"/>
          </p:cNvPicPr>
          <p:nvPr/>
        </p:nvPicPr>
        <p:blipFill>
          <a:blip r:embed="rId1"/>
          <a:srcRect l="0" r="0" t="10425" b="10425"/>
          <a:stretch/>
        </p:blipFill>
        <p:spPr>
          <a:xfrm>
            <a:off x="685800" y="2880360"/>
            <a:ext cx="5029200" cy="22402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85800" y="2880360"/>
            <a:ext cx="5029200" cy="224028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80760" y="278892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81928" y="2953512"/>
            <a:ext cx="4946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indeksin faydası nedir?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36792" y="3465576"/>
            <a:ext cx="48371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Tüm ürünleri tek tek okumaz.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Fiyatlar sıralı tutulduğu için ilk uygun noktaya hızlı iner.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Aralık içindeki kayıtları sırayla okur.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Rapor ve listeleme ekranları hızlanır.</a:t>
            </a:r>
            <a:endParaRPr lang="en-US" sz="126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 Sistemlerinde Kullanımı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 sistemleri de büyük bir “adres bulma” problemidir: dosya adı, klasör ve blok adresi hızlı bulunmalıdır.</a:t>
            </a:r>
            <a:endParaRPr lang="en-US" sz="1150" dirty="0"/>
          </a:p>
        </p:txBody>
      </p:sp>
      <p:pic>
        <p:nvPicPr>
          <p:cNvPr id="6" name="Image 0" descr="/mnt/data/a_wide_cinematic_interior_scene_of_an_institution_batch_3.png">    </p:cNvPr>
          <p:cNvPicPr>
            <a:picLocks noChangeAspect="1"/>
          </p:cNvPicPr>
          <p:nvPr/>
        </p:nvPicPr>
        <p:blipFill>
          <a:blip r:embed="rId1"/>
          <a:srcRect l="12480" r="12480" t="0" b="0"/>
          <a:stretch/>
        </p:blipFill>
        <p:spPr>
          <a:xfrm>
            <a:off x="594360" y="1508760"/>
            <a:ext cx="457200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508760"/>
            <a:ext cx="4572000" cy="3429000"/>
          </a:xfrm>
          <a:prstGeom prst="rect">
            <a:avLst/>
          </a:prstGeom>
          <a:solidFill>
            <a:srgbClr val="000000">
              <a:alpha val="8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23560" y="132588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24728" y="149047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NTFS / Windows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879592" y="2002536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MFT ve dizin yapıları dosya kayıtlarını hızlı bulmak için indeks mantığından yararlanır.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23560" y="2578608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24728" y="274320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EXT4 / Linux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79592" y="3255264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Büyük dizinlerde HTree adı verilen yüksek dallanmalı dizin indeksleme yapısı kullanılır.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23560" y="3822192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24728" y="398678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APFS / Apple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879592" y="4498848"/>
            <a:ext cx="4654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Dosya sistemi yapılarında B-tree düğümleri ve ağaç tabanlı organizasyon kullanılır.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40680" y="5486400"/>
            <a:ext cx="553212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Ortak hedef: milyonlarca dosya içinde hızlı ve güvenilir erişim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Arama Motorları ve Büyük Veri Sistemleri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sistemlerde veriye yalnızca ulaşmak değil, onu sıralı ve aralıklı biçimde okuyabilmek önemlidir.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37760" cy="1115568"/>
          </a:xfrm>
          <a:prstGeom prst="roundRect">
            <a:avLst>
              <a:gd name="adj" fmla="val 65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 İndeks Mantığı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209397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Kelime → doküman listesi ilişkisi indekslenir.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Terim sözlüğüne hızlı erişim için ağaç/indeks mantığı kullanılır.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4937760" cy="1115568"/>
          </a:xfrm>
          <a:prstGeom prst="roundRect">
            <a:avLst>
              <a:gd name="adj" fmla="val 65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0779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Analitiği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41832" y="341985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Zaman, fiyat veya kullanıcı aralığına göre filtreleme yapılır.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Sıralı veriye erişim raporlama hızını artırır.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4937760" cy="1115568"/>
          </a:xfrm>
          <a:prstGeom prst="roundRect">
            <a:avLst>
              <a:gd name="adj" fmla="val 65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4233672"/>
            <a:ext cx="4535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Hash Yetmez?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4745736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Hash tablo tek kayıt bulmada hızlıdır.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Sıralı gezinme ve aralık sorgularında B+ Tree daha uygundur.</a:t>
            </a:r>
            <a:endParaRPr lang="en-US" sz="1140" dirty="0"/>
          </a:p>
        </p:txBody>
      </p:sp>
      <p:pic>
        <p:nvPicPr>
          <p:cNvPr id="15" name="Image 0" descr="/mnt/data/a_high_tech_abstract_data_visualization_scene_on_a_batch_4.png">    </p:cNvPr>
          <p:cNvPicPr>
            <a:picLocks noChangeAspect="1"/>
          </p:cNvPicPr>
          <p:nvPr/>
        </p:nvPicPr>
        <p:blipFill>
          <a:blip r:embed="rId1"/>
          <a:srcRect l="2074" r="2074" t="0" b="0"/>
          <a:stretch/>
        </p:blipFill>
        <p:spPr>
          <a:xfrm>
            <a:off x="6400800" y="1874520"/>
            <a:ext cx="4983480" cy="2926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00800" y="1874520"/>
            <a:ext cx="4983480" cy="2926080"/>
          </a:xfrm>
          <a:prstGeom prst="rect">
            <a:avLst/>
          </a:prstGeom>
          <a:solidFill>
            <a:srgbClr val="000000">
              <a:alpha val="8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0" y="5623560"/>
            <a:ext cx="539496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= ilk noktayı bul + yaprak zincirinden sırayla devam et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Hayat Benzetmesi: Kütüphane Sistemi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kütüphanede kitap bulma süreci, B+ ağacının çalışma mantığını somutlaştırır.</a:t>
            </a:r>
            <a:endParaRPr lang="en-US" sz="1150" dirty="0"/>
          </a:p>
        </p:txBody>
      </p:sp>
      <p:pic>
        <p:nvPicPr>
          <p:cNvPr id="6" name="Image 0" descr="/mnt/data/a_wide_cinematic_interior_scene_of_an_institution_batch_3.png">    </p:cNvPr>
          <p:cNvPicPr>
            <a:picLocks noChangeAspect="1"/>
          </p:cNvPicPr>
          <p:nvPr/>
        </p:nvPicPr>
        <p:blipFill>
          <a:blip r:embed="rId1"/>
          <a:srcRect l="17897" r="17897" t="0" b="0"/>
          <a:stretch/>
        </p:blipFill>
        <p:spPr>
          <a:xfrm>
            <a:off x="594360" y="1463040"/>
            <a:ext cx="3703320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463040"/>
            <a:ext cx="3703320" cy="3246120"/>
          </a:xfrm>
          <a:prstGeom prst="rect">
            <a:avLst/>
          </a:prstGeom>
          <a:solidFill>
            <a:srgbClr val="000000">
              <a:alpha val="8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32588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56048" y="149047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Üst Kat: Yönlendirme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10912" y="2002536"/>
            <a:ext cx="2505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“A-F arası 1. reyon” gibi tabelalar bulunur.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4754880" y="260604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277063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Kat: Gerçek Kitaplar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10912" y="3282696"/>
            <a:ext cx="2505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Gerçek kitaplar alfabetik ve sıralı raflarda durur.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4754880" y="3886200"/>
            <a:ext cx="3017520" cy="1051560"/>
          </a:xfrm>
          <a:prstGeom prst="roundRect">
            <a:avLst>
              <a:gd name="adj" fmla="val 6957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6048" y="4050792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 Yana Raflar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10912" y="4562856"/>
            <a:ext cx="25054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Raflar zincir gibi birbirine bağlanmış kabul edilir.</a:t>
            </a:r>
            <a:endParaRPr lang="en-US" sz="1130" dirty="0"/>
          </a:p>
        </p:txBody>
      </p:sp>
      <p:sp>
        <p:nvSpPr>
          <p:cNvPr id="17" name="Shape 14"/>
          <p:cNvSpPr/>
          <p:nvPr/>
        </p:nvSpPr>
        <p:spPr>
          <a:xfrm>
            <a:off x="8275320" y="132588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D7FF31"/>
          </a:solidFill>
          <a:ln w="8890">
            <a:solidFill>
              <a:srgbClr val="D7FF3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76488" y="149047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Somut Fayda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76488" y="1947672"/>
            <a:ext cx="2798064" cy="2807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 ile M arasındaki tüm yazarları getir” denildiğinde tüm kütüphane dolaşılmaz. Önce K harfine gidilir, sonra sıralı raflar boyunca M harfine kadar ilerlenir. Bu, B+ Tree’deki yaprak zincirine benzer.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Aralık Sorgularında B+ Tree Avantajı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kayıt aramak ile belirli aralıktaki tüm kayıtları almak farklı problemlerdir.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81328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459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Nokta Sorgusu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2103120"/>
            <a:ext cx="389534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“Barkodu 869123 olan ürünü getir.”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hedef bulunur. B ağacı ve B+ ağacı bu senaryoda hızlıdır.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7086600" y="1481328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D7FF31"/>
          </a:solidFill>
          <a:ln w="8890">
            <a:solidFill>
              <a:srgbClr val="D7FF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87768" y="16459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Aralık Sorgusu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87768" y="2103120"/>
            <a:ext cx="3895344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“100 TL ile 500 TL arasındaki ürünleri getir.”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 başlangıç değerine iner ve yaprak zincirinde ilerler.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5166360" y="3154680"/>
            <a:ext cx="0" cy="1005840"/>
          </a:xfrm>
          <a:prstGeom prst="line">
            <a:avLst/>
          </a:prstGeom>
          <a:noFill/>
          <a:ln w="3810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4160520"/>
            <a:ext cx="1280160" cy="0"/>
          </a:xfrm>
          <a:prstGeom prst="line">
            <a:avLst/>
          </a:prstGeom>
          <a:noFill/>
          <a:ln w="3810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97680" y="27432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C2C2C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Kökten yaprağa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388620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C2C2C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Yatay tarama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507492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51960" y="507492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77840" y="507492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03720" y="507492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5074920"/>
            <a:ext cx="74980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240"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5266944"/>
            <a:ext cx="594360" cy="0"/>
          </a:xfrm>
          <a:prstGeom prst="line">
            <a:avLst/>
          </a:prstGeom>
          <a:noFill/>
          <a:ln w="1905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983480" y="5266944"/>
            <a:ext cx="594360" cy="0"/>
          </a:xfrm>
          <a:prstGeom prst="line">
            <a:avLst/>
          </a:prstGeom>
          <a:noFill/>
          <a:ln w="1905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9360" y="5266944"/>
            <a:ext cx="594360" cy="0"/>
          </a:xfrm>
          <a:prstGeom prst="line">
            <a:avLst/>
          </a:prstGeom>
          <a:noFill/>
          <a:ln w="1905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35240" y="5266944"/>
            <a:ext cx="594360" cy="0"/>
          </a:xfrm>
          <a:prstGeom prst="line">
            <a:avLst/>
          </a:prstGeom>
          <a:noFill/>
          <a:ln w="19050">
            <a:solidFill>
              <a:srgbClr val="C8FF1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337560" y="5806440"/>
            <a:ext cx="548640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 + k): hedefe in + k adet sonucu sırayla oku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Çağında Neden İhtiyaç Duyulur?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büyüdükçe tüm kayıtları sırayla kontrol etmek gerçekçi değildir.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Tablosu: Sınırlı Hız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093976"/>
            <a:ext cx="4471416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 kayıt aramada çok hızlıdır.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 hash fonksiyonuyla dağılır.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Sıralı gezinme doğal değildir.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Aralık sorgularında veriler dağınık kalabilir.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1417320"/>
            <a:ext cx="4983480" cy="3611880"/>
          </a:xfrm>
          <a:prstGeom prst="roundRect">
            <a:avLst>
              <a:gd name="adj" fmla="val 2025"/>
            </a:avLst>
          </a:prstGeom>
          <a:solidFill>
            <a:srgbClr val="D7FF31"/>
          </a:solidFill>
          <a:ln w="8890">
            <a:solidFill>
              <a:srgbClr val="D7FF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47688" y="1581912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B+ Tree: Aralık Dostu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02552" y="2093976"/>
            <a:ext cx="4471416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 sıralı düzende tutulur.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Aralık sorguları doğal olarak desteklenir.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Yaprak bağlantısı kesintisiz tarama sağlar.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Disk erişimi ve önbellek verimli kullanılır.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5532120"/>
            <a:ext cx="598932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= yalnızca bulmak değil, sıralı ve aralıklı okumak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pic>
        <p:nvPicPr>
          <p:cNvPr id="3" name="Image 0" descr="/mnt/data/a_high_tech_sci_fi_digital_tech_illustration_over_batch_5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Önemlidir ve Gelecekte Kullanılır mı?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yorumum: B/B+ ağaçları modern indeksleme düşüncesinin temelidir.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696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Önemli?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" y="2039112"/>
            <a:ext cx="3026664" cy="2075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büyüdüğünde hız sorunu ortaya çıkar. B ve B+ ağaçları veriyi sıralı, dengeli ve disk dostu biçimde tutarak arama maliyetini düşürür.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4173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242424"/>
          </a:solidFill>
          <a:ln w="8890">
            <a:solidFill>
              <a:srgbClr val="3B3B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9028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Büyük Veri Çağında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90288" y="2039112"/>
            <a:ext cx="3026664" cy="2075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Milyonlarca kayıt içinde filtreleme, sıralama ve raporlama yapılır. B+ Tree bu işlemleri tüm veriyi taramadan yapmaya yardım eder.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2440" y="141732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D7FF31"/>
          </a:solidFill>
          <a:ln w="8890">
            <a:solidFill>
              <a:srgbClr val="D7FF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93608" y="158191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Gelecek Yorumu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93608" y="2039112"/>
            <a:ext cx="3026664" cy="2075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Kullanılmaya devam edecektir. Donanım hızlansa bile veri miktarı artıyor. Yeni indeks yapıları bile hiyerarşik ve dengeli erişim fikrinden etkilenir.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43000" y="5166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4F4F4"/>
                </a:solidFill>
              </a:rPr>
              <a:t>Sonuç: B+ Tree, veriyi yalnızca saklayan değil, veriye ulaşma şeklini hızlandıran bir organizasyon modelidir.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 Sonuç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Ödev sorularının tamamını kapsayan kısa kapanış.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31520" y="1435608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4"/>
                </a:solidFill>
              </a:rPr>
              <a:t>Veri tabanlarında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3749040" y="142646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9BEC4"/>
                </a:solidFill>
              </a:rPr>
              <a:t>B/B+ ağaçları indeks yapısı olarak kullanılır; tabloyu baştan sona taramayı azaltır.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1325880" y="1810512"/>
            <a:ext cx="9875520" cy="0"/>
          </a:xfrm>
          <a:prstGeom prst="line">
            <a:avLst/>
          </a:prstGeom>
          <a:noFill/>
          <a:ln w="8890">
            <a:solidFill>
              <a:srgbClr val="2C2C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40280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22219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4"/>
                </a:solidFill>
              </a:rPr>
              <a:t>Dosya sistemlerinde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749040" y="223113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9BEC4"/>
                </a:solidFill>
              </a:rPr>
              <a:t>Klasör, dosya adı ve blok adresleri gibi metadataların hızlı bulunmasına yardım eder.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1325880" y="2615184"/>
            <a:ext cx="9875520" cy="0"/>
          </a:xfrm>
          <a:prstGeom prst="line">
            <a:avLst/>
          </a:prstGeom>
          <a:noFill/>
          <a:ln w="8890">
            <a:solidFill>
              <a:srgbClr val="2C2C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44952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302666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4"/>
                </a:solidFill>
              </a:rPr>
              <a:t>Büyük veri sistemlerinde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749040" y="303580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9BEC4"/>
                </a:solidFill>
              </a:rPr>
              <a:t>Sıralı veri, aralık sorguları ve hızlı raporlama için temel bir yaklaşımdır.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1325880" y="3419856"/>
            <a:ext cx="9875520" cy="0"/>
          </a:xfrm>
          <a:prstGeom prst="line">
            <a:avLst/>
          </a:prstGeom>
          <a:noFill/>
          <a:ln w="889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9624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831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4"/>
                </a:solidFill>
              </a:rPr>
              <a:t>Günlük benzetme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749040" y="384048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9BEC4"/>
                </a:solidFill>
              </a:rPr>
              <a:t>Kütüphane veya hastane arşivi, B+ Tree’deki yönlendirme ve yaprak zincirini açıklar.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325880" y="4224528"/>
            <a:ext cx="9875520" cy="0"/>
          </a:xfrm>
          <a:prstGeom prst="line">
            <a:avLst/>
          </a:prstGeom>
          <a:noFill/>
          <a:ln w="8890">
            <a:solidFill>
              <a:srgbClr val="2C2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654296"/>
            <a:ext cx="4114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6360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4F4F4"/>
                </a:solidFill>
              </a:rPr>
              <a:t>Kişisel yorum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3749040" y="464515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B9BEC4"/>
                </a:solidFill>
              </a:rPr>
              <a:t>Gelecekte donanım değişse bile dengeli indeksleme mantığı önemini koruyacaktır.</a:t>
            </a:r>
            <a:endParaRPr lang="en-US" sz="1140" dirty="0"/>
          </a:p>
        </p:txBody>
      </p:sp>
      <p:sp>
        <p:nvSpPr>
          <p:cNvPr id="25" name="Shape 23"/>
          <p:cNvSpPr/>
          <p:nvPr/>
        </p:nvSpPr>
        <p:spPr>
          <a:xfrm>
            <a:off x="1325880" y="5029200"/>
            <a:ext cx="9875520" cy="0"/>
          </a:xfrm>
          <a:prstGeom prst="line">
            <a:avLst/>
          </a:prstGeom>
          <a:noFill/>
          <a:ln w="8890">
            <a:solidFill>
              <a:srgbClr val="2C2C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571500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C8FF17"/>
          </a:solidFill>
          <a:ln>
            <a:solidFill>
              <a:srgbClr val="C8FF1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Kaynakça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1234440" cy="0"/>
          </a:xfrm>
          <a:prstGeom prst="line">
            <a:avLst/>
          </a:prstGeom>
          <a:noFill/>
          <a:ln w="30480">
            <a:solidFill>
              <a:srgbClr val="C8FF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hazırlanırken kullanılan temel kaynaklar.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399032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Ders Notu: Hafta 6-7 B Ağaçları, Veri Organizasyonu ders materyali.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731520" y="1929384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02536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MySQL 8.4 Reference Manual: InnoDB Index Types / Clustered and Secondary Indexes.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31520" y="2532888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06040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PostgreSQL Documentation: Index Types — B-Tree Indexes.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209544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MongoDB Manual: Indexes — B-tree based index structure.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31520" y="3739896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813048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Apple File System Reference: B-tree node constants and file system structures.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31520" y="4343400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1E1E1E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16552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Linux EXT4 / HTree teknik açıklamaları: yüksek dallanmalı dizin indeksleme.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31520" y="4946904"/>
            <a:ext cx="10698480" cy="438912"/>
          </a:xfrm>
          <a:prstGeom prst="roundRect">
            <a:avLst>
              <a:gd name="adj" fmla="val 16667"/>
            </a:avLst>
          </a:prstGeom>
          <a:solidFill>
            <a:srgbClr val="222222"/>
          </a:solidFill>
          <a:ln w="8890">
            <a:solidFill>
              <a:srgbClr val="30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020056"/>
            <a:ext cx="10296144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Bayer &amp; McCreight, “Organization and Maintenance of Large Ordered Indices”, 1970.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02920" y="64739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B8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Organizasyonu • B ve B+ Ağaçları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11109960" y="63825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F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İnönü Üniversitesi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 ve B+ Ağaçlarının Modern Sistemlerdeki Rolü</dc:title>
  <dc:subject>B ve B+ Ağaçlarının Günümüzde Kullanım Alanları</dc:subject>
  <dc:creator>Yavuz Eymen Tan</dc:creator>
  <cp:lastModifiedBy>Yavuz Eymen Tan</cp:lastModifiedBy>
  <cp:revision>1</cp:revision>
  <dcterms:created xsi:type="dcterms:W3CDTF">2026-05-19T21:06:23Z</dcterms:created>
  <dcterms:modified xsi:type="dcterms:W3CDTF">2026-05-19T21:06:23Z</dcterms:modified>
</cp:coreProperties>
</file>